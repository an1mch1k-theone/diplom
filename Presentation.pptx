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Рекомендательная система для ритейлера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BBDEFB"/>
                </a:solidFill>
                <a:latin typeface="Calibri"/>
              </a:defRPr>
            </a:pPr>
            <a:r>
              <a:t>Персонализированные рекомендации на основе поведенческих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114800"/>
            <a:ext cx="6675120" cy="2743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Коллаборативная фильтрация (ALS) | Python | FastAPI |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Бизнес-цель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2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474720" cy="43891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Пользователи не находят релевантные товары → потеря продаж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Холодные рекомендации (популярное) не работают для сегментов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463040"/>
            <a:ext cx="3474720" cy="43891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554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Решение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Персонализированные рекомендации на основе истории поведения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Увеличение среднего чека и конверсии в покупку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463040"/>
            <a:ext cx="3474720" cy="43891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39" y="1600200"/>
            <a:ext cx="4572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799" y="1554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Ожидаемый эффект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Рост конверсии View → Transaction с 0.84% до 1.5%+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Увеличение повторных покупок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Датасет Retail Rocket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3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Параметр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Значение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Период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Май — Сентябрь 2015 (137 дней)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Событий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2 756 101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Пользователей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1 407 580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Товаров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417 053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Категорий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146304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Тип события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Доля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addtocart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2.5%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411480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Ключевое наблюдение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Большинство пользователей — "холодные" (только просмотры). Это определяет выбор алгоритма.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Разведочный анализ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4 / 9</a:t>
            </a:r>
          </a:p>
        </p:txBody>
      </p:sp>
      <p:pic>
        <p:nvPicPr>
          <p:cNvPr id="7" name="Picture 6" descr="07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Ключевые инсайты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▸  96.7% событий — просмотры (холодные пользователи)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▸  Конверсия View→Cart низка (2.6%) — есть потенциал роста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▸  Конверсия Cart→Transaction высока (32.4%)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▸  460 дублей удалены при очистке</a:t>
            </a:r>
          </a:p>
          <a:p>
            <a:pPr algn="l">
              <a:spcBef>
                <a:spcPts val="2000"/>
              </a:spcBef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6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Воронка конверсии: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3498DB"/>
                </a:solidFill>
                <a:latin typeface="Calibri"/>
              </a:defRPr>
            </a:pPr>
            <a:r>
              <a:t>   View: 100%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2E5D8C"/>
                </a:solidFill>
                <a:latin typeface="Calibri"/>
              </a:defRPr>
            </a:pPr>
            <a:r>
              <a:t>   Cart: 2.6%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1B2A4A"/>
                </a:solidFill>
                <a:latin typeface="Calibri"/>
              </a:defRPr>
            </a:pPr>
            <a:r>
              <a:t>   Transaction: 0.84%</a:t>
            </a:r>
          </a:p>
          <a:p>
            <a:pPr algn="l">
              <a:spcBef>
                <a:spcPts val="1000"/>
              </a:spcBef>
              <a:defRPr sz="1400" b="1">
                <a:solidFill>
                  <a:srgbClr val="27AE60"/>
                </a:solidFill>
                <a:latin typeface="Calibri"/>
              </a:defRPr>
            </a:pPr>
            <a:r>
              <a:t>   Cart→Transaction: 32.4%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Трансформации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5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91840" cy="20116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1691640"/>
            <a:ext cx="914400" cy="9144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Очистка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F8C8D"/>
                </a:solidFill>
                <a:latin typeface="Calibri"/>
              </a:defRPr>
            </a:pPr>
            <a:r>
              <a:t>Удаление 460 дубликатов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554480"/>
            <a:ext cx="3291840" cy="20116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1691640"/>
            <a:ext cx="914400" cy="914400"/>
          </a:xfrm>
          <a:prstGeom prst="ellipse">
            <a:avLst/>
          </a:prstGeom>
          <a:solidFill>
            <a:srgbClr val="2E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432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Взвешивание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F8C8D"/>
                </a:solidFill>
                <a:latin typeface="Calibri"/>
              </a:defRPr>
            </a:pPr>
            <a:r>
              <a:t>view=1, addtocart=3, transaction=5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554480"/>
            <a:ext cx="3291840" cy="20116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1691640"/>
            <a:ext cx="914400" cy="9144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7432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Train/Test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1089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F8C8D"/>
                </a:solidFill>
                <a:latin typeface="Calibri"/>
              </a:defRPr>
            </a:pPr>
            <a:r>
              <a:t>80%/20% по времени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Результаты трансформации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▸  Train: 03.05 — 17.08.2015 (80%)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▸  Test: 18.08 — 18.09.2015 (20%)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▸  Матрица взаимодействий: 1 407 580 × 417 053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C0392B"/>
                </a:solidFill>
                <a:latin typeface="Calibri"/>
              </a:defRPr>
            </a:pPr>
            <a:r>
              <a:t>▸  Плотность: 0.0006% (крайне разреженная)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Алгоритм ALS (Alternating Least Squares)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Почему ALS?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Работает с разреженными матрицами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Линейная сложность по итерациям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Хорошо масштабируется на 1M+ пользователей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Проверен для e-commerce рекомендаций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3891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Алгоритм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Проблема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Не масштабируется на 1.4M пользователей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NCF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Требует GPU, сложнее в продакшене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Content-based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Недостаточно признаков товаров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1371600"/>
            <a:ext cx="48463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Параметры модели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factors:           100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regularization:    0.01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iterations:       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474720"/>
            <a:ext cx="4846320" cy="292608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Матрица взаимодействий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Пользователи:     1 407 580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Товары:             417 053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Веса событий:     1 / 3 / 5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Плотность:          0.0006%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Результаты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7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Метрика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Значение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HitRate@10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Recall@10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0.42%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MAP@10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31920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73736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HitRate@10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Множитель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Случайные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~0.00005%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×1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Популярные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~0.003%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×60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ALS (наша)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×12 600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07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Архитектура сервиса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Схема: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3498DB"/>
                </a:solidFill>
                <a:latin typeface="Calibri"/>
              </a:defRPr>
            </a:pPr>
            <a:r>
              <a:t>   Клиент  →  FastAPI (:8000)  →  ALS Model (pickle)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2608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Эндпоинт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Метод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Описание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/recommend/{id}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Рекомендации для пользователя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/stats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Статистика модели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/health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2926080"/>
            <a:ext cx="4114800" cy="347472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Docker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▸  Образ: python:3.9-slim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▸  Сборка: build_and_export.ps1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1B2A4A"/>
                </a:solidFill>
                <a:latin typeface="Calibri"/>
              </a:defRPr>
            </a:pPr>
            <a:r>
              <a:t>Запуск: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E5D8C"/>
                </a:solidFill>
                <a:latin typeface="Calibri"/>
              </a:defRPr>
            </a:pPr>
            <a:r>
              <a:t>docker run -d -p 8000:8000 recsys-api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Итоги и следующие шаги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256032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2A4A"/>
                </a:solidFill>
                <a:latin typeface="Calibri"/>
              </a:defRPr>
            </a:pPr>
            <a:r>
              <a:t>Итоги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Разработана рекомендательная система на ALS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Модель превосходит baselines в 210+ раз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API готов к деплою в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2A4A"/>
                </a:solidFill>
                <a:latin typeface="Calibri"/>
              </a:defRPr>
            </a:pPr>
            <a:r>
              <a:t>Следующие шаги</a:t>
            </a:r>
          </a:p>
          <a:p>
            <a:pPr algn="l">
              <a:spcBef>
                <a:spcPts val="16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1.  Гибридная модель — добавить контентные признаки</a:t>
            </a:r>
          </a:p>
          <a:p>
            <a:pPr algn="l">
              <a:spcBef>
                <a:spcPts val="16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2.  Online learning — дообучение в реальном времени</a:t>
            </a:r>
          </a:p>
          <a:p>
            <a:pPr algn="l">
              <a:spcBef>
                <a:spcPts val="16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3.  A/B тестирование — проверка на бизнес-метриках</a:t>
            </a:r>
          </a:p>
          <a:p>
            <a:pPr algn="l">
              <a:spcBef>
                <a:spcPts val="16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4.  Кэширование — ускорение ответа для горячих пользователей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